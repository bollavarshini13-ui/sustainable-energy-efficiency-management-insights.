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8638" cy="15124113"/>
  <p:notesSz cx="15124113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E1E717-F982-422A-99CF-6E1CD2D5AC3B}" v="5" dt="2026-03-06T05:48:30.0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8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llavarshini13@gmail.com" userId="da1287fd3ea54626" providerId="LiveId" clId="{23D643BC-9ADE-476E-9E06-539B57EA1DFE}"/>
    <pc:docChg chg="undo custSel modSld">
      <pc:chgData name="bollavarshini13@gmail.com" userId="da1287fd3ea54626" providerId="LiveId" clId="{23D643BC-9ADE-476E-9E06-539B57EA1DFE}" dt="2026-03-06T05:53:31.982" v="295" actId="478"/>
      <pc:docMkLst>
        <pc:docMk/>
      </pc:docMkLst>
      <pc:sldChg chg="addSp delSp modSp mod">
        <pc:chgData name="bollavarshini13@gmail.com" userId="da1287fd3ea54626" providerId="LiveId" clId="{23D643BC-9ADE-476E-9E06-539B57EA1DFE}" dt="2026-03-06T05:53:31.982" v="295" actId="478"/>
        <pc:sldMkLst>
          <pc:docMk/>
          <pc:sldMk cId="0" sldId="256"/>
        </pc:sldMkLst>
        <pc:spChg chg="mod">
          <ac:chgData name="bollavarshini13@gmail.com" userId="da1287fd3ea54626" providerId="LiveId" clId="{23D643BC-9ADE-476E-9E06-539B57EA1DFE}" dt="2026-03-06T05:52:32.143" v="276" actId="1076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bollavarshini13@gmail.com" userId="da1287fd3ea54626" providerId="LiveId" clId="{23D643BC-9ADE-476E-9E06-539B57EA1DFE}" dt="2026-03-06T05:47:58.668" v="190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bollavarshini13@gmail.com" userId="da1287fd3ea54626" providerId="LiveId" clId="{23D643BC-9ADE-476E-9E06-539B57EA1DFE}" dt="2026-03-06T05:52:43.559" v="283" actId="478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bollavarshini13@gmail.com" userId="da1287fd3ea54626" providerId="LiveId" clId="{23D643BC-9ADE-476E-9E06-539B57EA1DFE}" dt="2026-03-06T05:52:39.520" v="280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bollavarshini13@gmail.com" userId="da1287fd3ea54626" providerId="LiveId" clId="{23D643BC-9ADE-476E-9E06-539B57EA1DFE}" dt="2026-03-06T05:52:47.123" v="285" actId="6549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bollavarshini13@gmail.com" userId="da1287fd3ea54626" providerId="LiveId" clId="{23D643BC-9ADE-476E-9E06-539B57EA1DFE}" dt="2026-03-06T05:52:42.096" v="282" actId="478"/>
          <ac:spMkLst>
            <pc:docMk/>
            <pc:sldMk cId="0" sldId="256"/>
            <ac:spMk id="8" creationId="{00000000-0000-0000-0000-000000000000}"/>
          </ac:spMkLst>
        </pc:spChg>
        <pc:spChg chg="add del mod">
          <ac:chgData name="bollavarshini13@gmail.com" userId="da1287fd3ea54626" providerId="LiveId" clId="{23D643BC-9ADE-476E-9E06-539B57EA1DFE}" dt="2026-03-06T05:50:59.605" v="261" actId="1038"/>
          <ac:spMkLst>
            <pc:docMk/>
            <pc:sldMk cId="0" sldId="256"/>
            <ac:spMk id="9" creationId="{00000000-0000-0000-0000-000000000000}"/>
          </ac:spMkLst>
        </pc:spChg>
        <pc:spChg chg="mod">
          <ac:chgData name="bollavarshini13@gmail.com" userId="da1287fd3ea54626" providerId="LiveId" clId="{23D643BC-9ADE-476E-9E06-539B57EA1DFE}" dt="2026-03-06T05:51:10.455" v="267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bollavarshini13@gmail.com" userId="da1287fd3ea54626" providerId="LiveId" clId="{23D643BC-9ADE-476E-9E06-539B57EA1DFE}" dt="2026-03-06T05:50:39.737" v="257" actId="1410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bollavarshini13@gmail.com" userId="da1287fd3ea54626" providerId="LiveId" clId="{23D643BC-9ADE-476E-9E06-539B57EA1DFE}" dt="2026-03-06T05:50:22.985" v="244" actId="688"/>
          <ac:spMkLst>
            <pc:docMk/>
            <pc:sldMk cId="0" sldId="256"/>
            <ac:spMk id="12" creationId="{00000000-0000-0000-0000-000000000000}"/>
          </ac:spMkLst>
        </pc:spChg>
        <pc:spChg chg="mod">
          <ac:chgData name="bollavarshini13@gmail.com" userId="da1287fd3ea54626" providerId="LiveId" clId="{23D643BC-9ADE-476E-9E06-539B57EA1DFE}" dt="2026-03-06T05:45:58.871" v="32" actId="20577"/>
          <ac:spMkLst>
            <pc:docMk/>
            <pc:sldMk cId="0" sldId="256"/>
            <ac:spMk id="119" creationId="{00000000-0000-0000-0000-000000000000}"/>
          </ac:spMkLst>
        </pc:spChg>
        <pc:picChg chg="add mod">
          <ac:chgData name="bollavarshini13@gmail.com" userId="da1287fd3ea54626" providerId="LiveId" clId="{23D643BC-9ADE-476E-9E06-539B57EA1DFE}" dt="2026-03-06T05:53:28.202" v="294" actId="1076"/>
          <ac:picMkLst>
            <pc:docMk/>
            <pc:sldMk cId="0" sldId="256"/>
            <ac:picMk id="121" creationId="{2F7C9D08-7544-89E6-43DA-80EEE595DDF5}"/>
          </ac:picMkLst>
        </pc:picChg>
        <pc:picChg chg="add del mod">
          <ac:chgData name="bollavarshini13@gmail.com" userId="da1287fd3ea54626" providerId="LiveId" clId="{23D643BC-9ADE-476E-9E06-539B57EA1DFE}" dt="2026-03-06T05:53:31.982" v="295" actId="478"/>
          <ac:picMkLst>
            <pc:docMk/>
            <pc:sldMk cId="0" sldId="256"/>
            <ac:picMk id="123" creationId="{3BC5C5E8-DAF2-1861-5A30-721F303D9BF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714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" y="-27432"/>
            <a:ext cx="10689336" cy="457200"/>
          </a:xfrm>
          <a:prstGeom prst="rect">
            <a:avLst/>
          </a:prstGeom>
          <a:solidFill>
            <a:srgbClr val="E8591A"/>
          </a:solidFill>
          <a:ln w="12700">
            <a:solidFill>
              <a:srgbClr val="E85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712696"/>
            <a:ext cx="10689336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502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86406" y="594360"/>
            <a:ext cx="2743200" cy="292608"/>
          </a:xfrm>
          <a:prstGeom prst="rect">
            <a:avLst/>
          </a:prstGeom>
          <a:solidFill>
            <a:srgbClr val="E8591A"/>
          </a:solidFill>
          <a:ln w="12700">
            <a:solidFill>
              <a:srgbClr val="E85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63256" y="594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PROJECT BASED LEARNING FROM DSA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64592" y="1371600"/>
            <a:ext cx="11248045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r>
              <a:rPr lang="en-US" sz="3200" b="1" i="1" dirty="0">
                <a:solidFill>
                  <a:schemeClr val="bg1"/>
                </a:solidFill>
              </a:rPr>
              <a:t>           Sustainable Energy Efficiency Management Insights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8952" y="533130"/>
            <a:ext cx="10323576" cy="1707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br>
              <a:rPr lang="en-US" sz="2400" dirty="0"/>
            </a:br>
            <a:r>
              <a:rPr lang="en-US" dirty="0" err="1"/>
              <a:t>i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0" y="2075688"/>
            <a:ext cx="10689336" cy="274320"/>
          </a:xfrm>
          <a:prstGeom prst="rect">
            <a:avLst/>
          </a:prstGeom>
          <a:solidFill>
            <a:srgbClr val="E8591A"/>
          </a:solidFill>
          <a:ln w="12700">
            <a:solidFill>
              <a:srgbClr val="E85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2880" y="2075688"/>
            <a:ext cx="10323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Java DSA Implementation  |  CO1 → CO6  |  Algorithms • ADTs • Stacks • Queues • Heaps • HashTables • Collections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4592" y="2423160"/>
            <a:ext cx="48920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91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64592" y="2423160"/>
            <a:ext cx="4892040" cy="292608"/>
          </a:xfrm>
          <a:prstGeom prst="rect">
            <a:avLst/>
          </a:prstGeom>
          <a:solidFill>
            <a:srgbClr val="E8591A"/>
          </a:solidFill>
          <a:ln w="12700">
            <a:solidFill>
              <a:srgbClr val="E85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6032" y="242316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Abstract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" y="2770632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The </a:t>
            </a:r>
            <a:r>
              <a:rPr lang="en-US" sz="950" b="1" dirty="0">
                <a:solidFill>
                  <a:srgbClr val="1A1A2E"/>
                </a:solidFill>
              </a:rPr>
              <a:t>EcoTrack Energy Saving Dashboard</a:t>
            </a:r>
            <a:r>
              <a:rPr lang="en-US" sz="950" dirty="0">
                <a:solidFill>
                  <a:srgbClr val="1A1A2E"/>
                </a:solidFill>
              </a:rPr>
              <a:t> is a Java DSA application demonstrating CO1–CO6 outcomes. Built with </a:t>
            </a:r>
            <a:r>
              <a:rPr lang="en-US" sz="950" b="1" dirty="0">
                <a:solidFill>
                  <a:srgbClr val="E8591A"/>
                </a:solidFill>
              </a:rPr>
              <a:t>9 data structures</a:t>
            </a:r>
            <a:r>
              <a:rPr lang="en-US" sz="950" dirty="0">
                <a:solidFill>
                  <a:srgbClr val="1A1A2E"/>
                </a:solidFill>
              </a:rPr>
              <a:t> — Singly &amp; Doubly Linked Lists, Stack, Circular Queue, Max-Heap, Hash Table — combined with 5 sorting and 2 search algorithms. Features include Undo/Redo, smart prioritization, O(1) lookups, and a full Dashboard tracking CO₂ savings.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93792" y="2423160"/>
            <a:ext cx="5330952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93792" y="2423160"/>
            <a:ext cx="5330952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85232" y="24231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System Architecture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49240" y="2834640"/>
            <a:ext cx="1554480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49240" y="2880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Layer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94960" y="317296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HashTable + LinkedList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O(1) avg lookups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040880" y="2834640"/>
            <a:ext cx="1554480" cy="12344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40880" y="2880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Logic Layer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086600" y="317296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MaxHeap + Stack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Circular Queue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732520" y="2834640"/>
            <a:ext cx="1554480" cy="12344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732520" y="2880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App Layer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778240" y="317296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Dashboard + Sorter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Searcher + DSA Demo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903720" y="3447288"/>
            <a:ext cx="137160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903720" y="3319272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→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95360" y="3447288"/>
            <a:ext cx="137160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95360" y="3319272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→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343400"/>
            <a:ext cx="10689336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0" y="4343400"/>
            <a:ext cx="10689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8591A"/>
                </a:solidFill>
              </a:rPr>
              <a:t>◆  CO-WISE IMPLEMENTATION  ◆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64592" y="4700016"/>
            <a:ext cx="3337560" cy="233172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64592" y="4700016"/>
            <a:ext cx="333756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37744" y="4745736"/>
            <a:ext cx="438912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37744" y="474573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65C0"/>
                </a:solidFill>
              </a:rPr>
              <a:t>CO1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58952" y="470001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Algorithms &amp; Complexity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87752" y="4754880"/>
            <a:ext cx="84124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587752" y="475488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565C0"/>
                </a:solidFill>
              </a:rPr>
              <a:t>7 Algorithms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256032" y="5065776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Bubble Sort O(n²)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Selection Sort O(n²)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Insertion Sort O(n²)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Merge Sort O(n log n)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Quick Sort O(n log n)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Linear Search O(n)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Binary Search O(log n)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66744" y="4700016"/>
            <a:ext cx="3337560" cy="233172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666744" y="4700016"/>
            <a:ext cx="333756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739896" y="4745736"/>
            <a:ext cx="438912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739896" y="474573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7D32"/>
                </a:solidFill>
              </a:rPr>
              <a:t>CO2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261104" y="470001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Linked List ADTs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089904" y="4754880"/>
            <a:ext cx="84124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089904" y="475488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E7D32"/>
                </a:solidFill>
              </a:rPr>
              <a:t>2 List Types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3758184" y="5065776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Singly Linked List (Lighting tips)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Insert Front / Insert Back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Delete by ID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Reverse in-place O(n)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Cycle Detection — Floyd's Algo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Doubly Linked List (Browse history)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Forward &amp; Backward traversal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168896" y="4700016"/>
            <a:ext cx="3337560" cy="233172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168896" y="4700016"/>
            <a:ext cx="3337560" cy="3200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242048" y="4745736"/>
            <a:ext cx="438912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242048" y="474573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A1B9A"/>
                </a:solidFill>
              </a:rPr>
              <a:t>CO3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763256" y="470001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Stack, Queue &amp; Heap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592056" y="4754880"/>
            <a:ext cx="84124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9592056" y="475488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A1B9A"/>
                </a:solidFill>
              </a:rPr>
              <a:t>3 Structures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7260336" y="5065776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Custom Stack (ArrayDeque backed)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Undo / Redo tip actions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Circular Queue ring buffer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Notification system (cap=4)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Max-Heap by CO₂ impact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Priority extraction O(log n)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Heapify Down recursive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64592" y="7168896"/>
            <a:ext cx="3337560" cy="2331720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64592" y="7168896"/>
            <a:ext cx="3337560" cy="3200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237744" y="7214616"/>
            <a:ext cx="438912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37744" y="721461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695C"/>
                </a:solidFill>
              </a:rPr>
              <a:t>CO4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58952" y="716889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Hash Table &amp; Collections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587752" y="7223760"/>
            <a:ext cx="84124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587752" y="722376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695C"/>
                </a:solidFill>
              </a:rPr>
              <a:t>O(1) Lookup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256032" y="7534656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Hash Table with chaining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16 buckets, O(1) avg get/put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Mark-done toggle O(1)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Java Map / Set / PriorityQueue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LinkedHashMap for category order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LinkedHashSet for completed IDs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Stream API for CO₂ &amp; score stats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666744" y="7168896"/>
            <a:ext cx="3337560" cy="2331720"/>
          </a:xfrm>
          <a:prstGeom prst="rect">
            <a:avLst/>
          </a:prstGeom>
          <a:solidFill>
            <a:srgbClr val="FFF3E0"/>
          </a:solidFill>
          <a:ln w="19050">
            <a:solidFill>
              <a:srgbClr val="E8591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666744" y="7168896"/>
            <a:ext cx="3337560" cy="320040"/>
          </a:xfrm>
          <a:prstGeom prst="rect">
            <a:avLst/>
          </a:prstGeom>
          <a:solidFill>
            <a:srgbClr val="E8591A"/>
          </a:solidFill>
          <a:ln w="12700">
            <a:solidFill>
              <a:srgbClr val="E85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3739896" y="7214616"/>
            <a:ext cx="438912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3739896" y="721461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591A"/>
                </a:solidFill>
              </a:rPr>
              <a:t>CO5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4261104" y="716889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Application Design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089904" y="7223760"/>
            <a:ext cx="84124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089904" y="722376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8591A"/>
                </a:solidFill>
              </a:rPr>
              <a:t>Full App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3758184" y="7534656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Tip data model (id, text, impact, co2)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Impact enum HIGH / MED / LOW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Dashboard aggregates all structures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Category-based tip organization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Progress &amp; streak tracking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Top-3 impact priority display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CO₂ saved &amp; impact score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7168896" y="7168896"/>
            <a:ext cx="3337560" cy="2331720"/>
          </a:xfrm>
          <a:prstGeom prst="rect">
            <a:avLst/>
          </a:prstGeom>
          <a:solidFill>
            <a:srgbClr val="FCE4EC"/>
          </a:solidFill>
          <a:ln w="19050">
            <a:solidFill>
              <a:srgbClr val="880E4F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7168896" y="7168896"/>
            <a:ext cx="3337560" cy="32004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7242048" y="7214616"/>
            <a:ext cx="438912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7242048" y="721461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80E4F"/>
                </a:solidFill>
              </a:rPr>
              <a:t>CO6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7763256" y="716889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Integration &amp; Output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592056" y="7223760"/>
            <a:ext cx="84124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9592056" y="722376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880E4F"/>
                </a:solidFill>
              </a:rPr>
              <a:t>10 Sections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7260336" y="7534656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All CO1–CO5 structures integrated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Single main() demo entry point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Complexity summary table printed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Asymptotic notation: Ω Θ O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Timing benchmarks per sort (µs)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Hash stats: buckets &amp; max chain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10 demonstration sections total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0" y="10533888"/>
            <a:ext cx="10689336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0" y="10533888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ASYMPTOTIC COMPLEXITY SUMMARY (CO1)</a:t>
            </a:r>
            <a:endParaRPr lang="en-US" sz="10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0826496"/>
          <a:ext cx="7132320" cy="27736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69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Structure / Algorithm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Operation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Best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Average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Worst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Space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9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Singly Linked List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Insert Front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O(1)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O(1)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O(1)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9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Singly Linked List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Search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O(1)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9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Hash Table (Chain)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Get / Put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O(1)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O(1)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9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Stack (ArrayDeque)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Push / Pop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O(1)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O(1)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O(1)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9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Circular Queue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Enq / Deq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O(1)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O(1)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O(1)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9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Max-Heap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Insert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O(1)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O(log 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O(log 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9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Max-Heap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Extract Max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O(log 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O(log 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O(log 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9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Bubble / Selection / Insertion Sort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Sort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O(n²)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O(n²)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O(1)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9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Merge Sort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Sort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O(n log 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O(n log 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O(n log 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69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Quick Sort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Sort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O(n log 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O(n log 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O(n²)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O(log 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9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Linear Search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Search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O(1)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O(1)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69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Binary Search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Search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O(1)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O(log 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O(log n)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</a:rPr>
                        <a:t>O(1)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8" name="Shape 85"/>
          <p:cNvSpPr/>
          <p:nvPr/>
        </p:nvSpPr>
        <p:spPr>
          <a:xfrm>
            <a:off x="164592" y="13185648"/>
            <a:ext cx="10360152" cy="1554480"/>
          </a:xfrm>
          <a:prstGeom prst="rect">
            <a:avLst/>
          </a:prstGeom>
          <a:solidFill>
            <a:srgbClr val="FFFDE7"/>
          </a:solidFill>
          <a:ln w="25400">
            <a:solidFill>
              <a:srgbClr val="F9A82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9" name="Shape 86"/>
          <p:cNvSpPr/>
          <p:nvPr/>
        </p:nvSpPr>
        <p:spPr>
          <a:xfrm>
            <a:off x="164592" y="13185648"/>
            <a:ext cx="10360152" cy="2743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7"/>
          <p:cNvSpPr/>
          <p:nvPr/>
        </p:nvSpPr>
        <p:spPr>
          <a:xfrm>
            <a:off x="256032" y="13185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Conclusion &amp; Future Scope</a:t>
            </a:r>
            <a:endParaRPr lang="en-US" sz="1000" dirty="0"/>
          </a:p>
        </p:txBody>
      </p:sp>
      <p:sp>
        <p:nvSpPr>
          <p:cNvPr id="91" name="Shape 88"/>
          <p:cNvSpPr/>
          <p:nvPr/>
        </p:nvSpPr>
        <p:spPr>
          <a:xfrm>
            <a:off x="256032" y="13533120"/>
            <a:ext cx="128016" cy="128016"/>
          </a:xfrm>
          <a:prstGeom prst="ellipse">
            <a:avLst/>
          </a:prstGeom>
          <a:solidFill>
            <a:srgbClr val="E8591A"/>
          </a:solidFill>
          <a:ln w="12700">
            <a:solidFill>
              <a:srgbClr val="E85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9"/>
          <p:cNvSpPr/>
          <p:nvPr/>
        </p:nvSpPr>
        <p:spPr>
          <a:xfrm>
            <a:off x="438912" y="13487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Demonstrates CO1–CO6 through a real-world energy-saving app</a:t>
            </a:r>
            <a:endParaRPr lang="en-US" sz="850" dirty="0"/>
          </a:p>
        </p:txBody>
      </p:sp>
      <p:sp>
        <p:nvSpPr>
          <p:cNvPr id="93" name="Shape 90"/>
          <p:cNvSpPr/>
          <p:nvPr/>
        </p:nvSpPr>
        <p:spPr>
          <a:xfrm>
            <a:off x="256032" y="13880592"/>
            <a:ext cx="128016" cy="128016"/>
          </a:xfrm>
          <a:prstGeom prst="ellipse">
            <a:avLst/>
          </a:prstGeom>
          <a:solidFill>
            <a:srgbClr val="E8591A"/>
          </a:solidFill>
          <a:ln w="12700">
            <a:solidFill>
              <a:srgbClr val="E85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1"/>
          <p:cNvSpPr/>
          <p:nvPr/>
        </p:nvSpPr>
        <p:spPr>
          <a:xfrm>
            <a:off x="438912" y="138348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9 data structures with complete algorithmic implementations</a:t>
            </a:r>
            <a:endParaRPr lang="en-US" sz="850" dirty="0"/>
          </a:p>
        </p:txBody>
      </p:sp>
      <p:sp>
        <p:nvSpPr>
          <p:cNvPr id="95" name="Shape 92"/>
          <p:cNvSpPr/>
          <p:nvPr/>
        </p:nvSpPr>
        <p:spPr>
          <a:xfrm>
            <a:off x="256032" y="14228064"/>
            <a:ext cx="128016" cy="128016"/>
          </a:xfrm>
          <a:prstGeom prst="ellipse">
            <a:avLst/>
          </a:prstGeom>
          <a:solidFill>
            <a:srgbClr val="E8591A"/>
          </a:solidFill>
          <a:ln w="12700">
            <a:solidFill>
              <a:srgbClr val="E85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3"/>
          <p:cNvSpPr/>
          <p:nvPr/>
        </p:nvSpPr>
        <p:spPr>
          <a:xfrm>
            <a:off x="438912" y="1418234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5 sorting algorithms with live timing benchmarks (µs)</a:t>
            </a:r>
            <a:endParaRPr lang="en-US" sz="850" dirty="0"/>
          </a:p>
        </p:txBody>
      </p:sp>
      <p:sp>
        <p:nvSpPr>
          <p:cNvPr id="97" name="Shape 94"/>
          <p:cNvSpPr/>
          <p:nvPr/>
        </p:nvSpPr>
        <p:spPr>
          <a:xfrm>
            <a:off x="5577840" y="13533120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5"/>
          <p:cNvSpPr/>
          <p:nvPr/>
        </p:nvSpPr>
        <p:spPr>
          <a:xfrm>
            <a:off x="5760720" y="13487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AI-driven CO₂ recommendation engine (future)</a:t>
            </a:r>
            <a:endParaRPr lang="en-US" sz="850" dirty="0"/>
          </a:p>
        </p:txBody>
      </p:sp>
      <p:sp>
        <p:nvSpPr>
          <p:cNvPr id="99" name="Shape 96"/>
          <p:cNvSpPr/>
          <p:nvPr/>
        </p:nvSpPr>
        <p:spPr>
          <a:xfrm>
            <a:off x="5577840" y="13880592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7"/>
          <p:cNvSpPr/>
          <p:nvPr/>
        </p:nvSpPr>
        <p:spPr>
          <a:xfrm>
            <a:off x="5760720" y="138348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Real-time energy meter integration via IoT API</a:t>
            </a:r>
            <a:endParaRPr lang="en-US" sz="850" dirty="0"/>
          </a:p>
        </p:txBody>
      </p:sp>
      <p:sp>
        <p:nvSpPr>
          <p:cNvPr id="101" name="Shape 98"/>
          <p:cNvSpPr/>
          <p:nvPr/>
        </p:nvSpPr>
        <p:spPr>
          <a:xfrm>
            <a:off x="5577840" y="14228064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99"/>
          <p:cNvSpPr/>
          <p:nvPr/>
        </p:nvSpPr>
        <p:spPr>
          <a:xfrm>
            <a:off x="5760720" y="141823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Mobile-responsive web frontend with React + Node.js</a:t>
            </a:r>
            <a:endParaRPr lang="en-US" sz="850" dirty="0"/>
          </a:p>
        </p:txBody>
      </p:sp>
      <p:sp>
        <p:nvSpPr>
          <p:cNvPr id="103" name="Shape 100"/>
          <p:cNvSpPr/>
          <p:nvPr/>
        </p:nvSpPr>
        <p:spPr>
          <a:xfrm>
            <a:off x="164592" y="14740128"/>
            <a:ext cx="82296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1"/>
          <p:cNvSpPr/>
          <p:nvPr/>
        </p:nvSpPr>
        <p:spPr>
          <a:xfrm>
            <a:off x="164592" y="147401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Java 17+</a:t>
            </a:r>
            <a:endParaRPr lang="en-US" sz="700" dirty="0"/>
          </a:p>
        </p:txBody>
      </p:sp>
      <p:sp>
        <p:nvSpPr>
          <p:cNvPr id="105" name="Shape 102"/>
          <p:cNvSpPr/>
          <p:nvPr/>
        </p:nvSpPr>
        <p:spPr>
          <a:xfrm>
            <a:off x="1024128" y="14740128"/>
            <a:ext cx="82296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3"/>
          <p:cNvSpPr/>
          <p:nvPr/>
        </p:nvSpPr>
        <p:spPr>
          <a:xfrm>
            <a:off x="1024128" y="147401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DSA</a:t>
            </a:r>
            <a:endParaRPr lang="en-US" sz="700" dirty="0"/>
          </a:p>
        </p:txBody>
      </p:sp>
      <p:sp>
        <p:nvSpPr>
          <p:cNvPr id="107" name="Shape 104"/>
          <p:cNvSpPr/>
          <p:nvPr/>
        </p:nvSpPr>
        <p:spPr>
          <a:xfrm>
            <a:off x="1883664" y="14740128"/>
            <a:ext cx="822960" cy="2560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5"/>
          <p:cNvSpPr/>
          <p:nvPr/>
        </p:nvSpPr>
        <p:spPr>
          <a:xfrm>
            <a:off x="1883664" y="147401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OOP</a:t>
            </a:r>
            <a:endParaRPr lang="en-US" sz="700" dirty="0"/>
          </a:p>
        </p:txBody>
      </p:sp>
      <p:sp>
        <p:nvSpPr>
          <p:cNvPr id="109" name="Shape 106"/>
          <p:cNvSpPr/>
          <p:nvPr/>
        </p:nvSpPr>
        <p:spPr>
          <a:xfrm>
            <a:off x="2743200" y="14740128"/>
            <a:ext cx="822960" cy="256032"/>
          </a:xfrm>
          <a:prstGeom prst="rect">
            <a:avLst/>
          </a:prstGeom>
          <a:solidFill>
            <a:srgbClr val="E8591A"/>
          </a:solidFill>
          <a:ln w="12700">
            <a:solidFill>
              <a:srgbClr val="E859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7"/>
          <p:cNvSpPr/>
          <p:nvPr/>
        </p:nvSpPr>
        <p:spPr>
          <a:xfrm>
            <a:off x="2743200" y="147401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Algorithms</a:t>
            </a:r>
            <a:endParaRPr lang="en-US" sz="700" dirty="0"/>
          </a:p>
        </p:txBody>
      </p:sp>
      <p:sp>
        <p:nvSpPr>
          <p:cNvPr id="111" name="Shape 108"/>
          <p:cNvSpPr/>
          <p:nvPr/>
        </p:nvSpPr>
        <p:spPr>
          <a:xfrm>
            <a:off x="3602736" y="14740128"/>
            <a:ext cx="822960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09"/>
          <p:cNvSpPr/>
          <p:nvPr/>
        </p:nvSpPr>
        <p:spPr>
          <a:xfrm>
            <a:off x="3602736" y="147401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Stacks</a:t>
            </a:r>
            <a:endParaRPr lang="en-US" sz="700" dirty="0"/>
          </a:p>
        </p:txBody>
      </p:sp>
      <p:sp>
        <p:nvSpPr>
          <p:cNvPr id="113" name="Shape 110"/>
          <p:cNvSpPr/>
          <p:nvPr/>
        </p:nvSpPr>
        <p:spPr>
          <a:xfrm>
            <a:off x="4462272" y="14740128"/>
            <a:ext cx="82296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1"/>
          <p:cNvSpPr/>
          <p:nvPr/>
        </p:nvSpPr>
        <p:spPr>
          <a:xfrm>
            <a:off x="4462272" y="147401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Queues</a:t>
            </a:r>
            <a:endParaRPr lang="en-US" sz="700" dirty="0"/>
          </a:p>
        </p:txBody>
      </p:sp>
      <p:sp>
        <p:nvSpPr>
          <p:cNvPr id="115" name="Shape 112"/>
          <p:cNvSpPr/>
          <p:nvPr/>
        </p:nvSpPr>
        <p:spPr>
          <a:xfrm>
            <a:off x="5321808" y="14740128"/>
            <a:ext cx="822960" cy="256032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3"/>
          <p:cNvSpPr/>
          <p:nvPr/>
        </p:nvSpPr>
        <p:spPr>
          <a:xfrm>
            <a:off x="5321808" y="147401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Heaps</a:t>
            </a:r>
            <a:endParaRPr lang="en-US" sz="700" dirty="0"/>
          </a:p>
        </p:txBody>
      </p:sp>
      <p:sp>
        <p:nvSpPr>
          <p:cNvPr id="117" name="Shape 114"/>
          <p:cNvSpPr/>
          <p:nvPr/>
        </p:nvSpPr>
        <p:spPr>
          <a:xfrm>
            <a:off x="6181344" y="14740128"/>
            <a:ext cx="82296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5"/>
          <p:cNvSpPr/>
          <p:nvPr/>
        </p:nvSpPr>
        <p:spPr>
          <a:xfrm>
            <a:off x="6181344" y="147401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Hash Tables</a:t>
            </a:r>
            <a:endParaRPr lang="en-US" sz="700" dirty="0"/>
          </a:p>
        </p:txBody>
      </p:sp>
      <p:sp>
        <p:nvSpPr>
          <p:cNvPr id="119" name="Text 116"/>
          <p:cNvSpPr/>
          <p:nvPr/>
        </p:nvSpPr>
        <p:spPr>
          <a:xfrm>
            <a:off x="7132320" y="14740128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FFFF"/>
                </a:solidFill>
              </a:rPr>
              <a:t>Name: Varshini Bolla  |  Roll No: 2520030431  |  Cluster: 1 |  KL University Bachupally</a:t>
            </a:r>
            <a:endParaRPr lang="en-US" sz="750" dirty="0"/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2F7C9D08-7544-89E6-43DA-80EEE595D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9" y="463913"/>
            <a:ext cx="2286000" cy="8683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787</Words>
  <Application>Microsoft Office PowerPoint</Application>
  <PresentationFormat>Custom</PresentationFormat>
  <Paragraphs>175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bollavarshini13@gmail.com</cp:lastModifiedBy>
  <cp:revision>1</cp:revision>
  <dcterms:created xsi:type="dcterms:W3CDTF">2026-03-06T05:31:27Z</dcterms:created>
  <dcterms:modified xsi:type="dcterms:W3CDTF">2026-03-06T05:53:38Z</dcterms:modified>
</cp:coreProperties>
</file>